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2bcf091d304eeb" /><Relationship Type="http://schemas.openxmlformats.org/officeDocument/2006/relationships/extended-properties" Target="/docProps/app.xml" Id="Rac136790ab674a34" /><Relationship Type="http://schemas.openxmlformats.org/officeDocument/2006/relationships/officeDocument" Target="/ppt/presentation.xml" Id="R5e35af680d5046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b66d16cb940ec"/>
  </p:sldMasterIdLst>
  <p:notesMasterIdLst>
    <p:notesMasterId xmlns:r="http://schemas.openxmlformats.org/officeDocument/2006/relationships" r:id="R35a989c6e6e5401d"/>
  </p:notesMasterIdLst>
  <p:sldIdLst>
    <p:sldId xmlns:r="http://schemas.openxmlformats.org/officeDocument/2006/relationships" id="256" r:id="R2c39d019b3274270"/>
    <p:sldId xmlns:r="http://schemas.openxmlformats.org/officeDocument/2006/relationships" id="257" r:id="R1f54a4c10aee4d75"/>
    <p:sldId xmlns:r="http://schemas.openxmlformats.org/officeDocument/2006/relationships" id="258" r:id="R0b1d145cadb14e8e"/>
    <p:sldId xmlns:r="http://schemas.openxmlformats.org/officeDocument/2006/relationships" id="259" r:id="Rd65ad4675bc149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2a174c1c0f40df" /><Relationship Type="http://schemas.openxmlformats.org/officeDocument/2006/relationships/slideMaster" Target="/ppt/slideMasters/slideMaster1.xml" Id="R38db66d16cb940ec" /><Relationship Type="http://schemas.openxmlformats.org/officeDocument/2006/relationships/notesMaster" Target="/ppt/notesMasters/notesMaster1.xml" Id="R35a989c6e6e5401d" /><Relationship Type="http://schemas.openxmlformats.org/officeDocument/2006/relationships/presProps" Target="/ppt/presProps.xml" Id="Rf582b975cfe946a1" /><Relationship Type="http://schemas.openxmlformats.org/officeDocument/2006/relationships/tableStyles" Target="/ppt/tableStyles.xml" Id="Rbac49f9bf5fe4f75" /><Relationship Type="http://schemas.openxmlformats.org/officeDocument/2006/relationships/slide" Target="/ppt/slides/slide1.xml" Id="R2c39d019b3274270" /><Relationship Type="http://schemas.openxmlformats.org/officeDocument/2006/relationships/slide" Target="/ppt/slides/slide2.xml" Id="R1f54a4c10aee4d75" /><Relationship Type="http://schemas.openxmlformats.org/officeDocument/2006/relationships/slide" Target="/ppt/slides/slide3.xml" Id="R0b1d145cadb14e8e" /><Relationship Type="http://schemas.openxmlformats.org/officeDocument/2006/relationships/slide" Target="/ppt/slides/slide4.xml" Id="Rd65ad4675bc149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4bff8e87144f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afaf969b03419a" /><Relationship Type="http://schemas.openxmlformats.org/officeDocument/2006/relationships/notesMaster" Target="/ppt/notesMasters/notesMaster1.xml" Id="R77eaa012eac74f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32b35f7b947d4" /><Relationship Type="http://schemas.openxmlformats.org/officeDocument/2006/relationships/notesMaster" Target="/ppt/notesMasters/notesMaster1.xml" Id="R97abb1edb2294a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fcfcb9ce4b468a" /><Relationship Type="http://schemas.openxmlformats.org/officeDocument/2006/relationships/notesMaster" Target="/ppt/notesMasters/notesMaster1.xml" Id="Re279a73115404f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ace8534d804466" /><Relationship Type="http://schemas.openxmlformats.org/officeDocument/2006/relationships/notesMaster" Target="/ppt/notesMasters/notesMaster1.xml" Id="R9050dde6a77346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PESSOA 1 | 0–30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Empresas e centros de pesquisa precisam proteger dados sensíveis e os comandos de seus sistemas. Nossa proposta é o Quantum Security: um programa que integra equipamentos de distribuição quântica de chaves à comunicação já existente. Ele gerencia chaves e acompanha a qualidade do canal. Queremos oferecer mais controle sobre a segurança da troca de informações. O jogo ilustra essa ideia, mas o produto proposto é o sistema de proteção.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APOIO</a:t>
            </a:r>
          </a:p>
          <a:p xmlns:a="http://schemas.openxmlformats.org/drawingml/2006/main">
            <a:r>
              <a:t>Proposta conceitual de produto, sem implementação QKD real no jogo. Público e funcionalidades representam a proposta, não clientes ou capacidades já comprovadas. QKD distribui chaves e requer equipamentos específicos. Não confundir com criptografia pós-quântica, baseada em algoritmos clássicos.</a:t>
            </a:r>
          </a:p>
          <a:p xmlns:a="http://schemas.openxmlformats.org/drawingml/2006/main">
            <a:r>
              <a:t>https://www.nsa.gov/Cybersecurity/Post-Quantum-Cybersecurity-Resources/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e ilustrações: referência fornecida pelo usuário, Pitch-Coerencia-Lab.pptx.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Terra, os asteroides e a luz de proteção são metáforas visuais da defesa planetária. QKD protege a distribuição das chaves, sem criar barreiras físicas contra asteroides. Arte orbital gerada com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PESSOA 2 | 30–60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A base da proposta são os qubits, que podem estar em superposição de zero e um. No entrelaçamento, duas partículas compartilham um estado e apresentam resultados correlacionados. Medições e verificações permitem gerar uma chave secreta. O sistema acompanha o QBER, a taxa de erros, para avaliar se o protocolo permite gerar uma chave segura. Erros podem indicar ruído ou espionagem, e uma taxa excessiva exige rejeitar aquela nova chave.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APOIO</a:t>
            </a:r>
          </a:p>
          <a:p xmlns:a="http://schemas.openxmlformats.org/drawingml/2006/main">
            <a:r>
              <a:t>https://quantum.cloud.ibm.com/learning/en/modules/quantum-mechanics/superposition-with-qiskit</a:t>
            </a:r>
          </a:p>
          <a:p xmlns:a="http://schemas.openxmlformats.org/drawingml/2006/main">
            <a:r>
              <a:t>https://journals.aps.org/prl/abstract/10.1103/PhysRevLett.67.661</a:t>
            </a:r>
          </a:p>
          <a:p xmlns:a="http://schemas.openxmlformats.org/drawingml/2006/main">
            <a:r>
              <a:t>https://quantum.cloud.ibm.com/learning/en/modules/computer-science/quantum-key-distribution</a:t>
            </a:r>
          </a:p>
          <a:p xmlns:a="http://schemas.openxmlformats.org/drawingml/2006/main">
            <a:r>
              <a:t>O protocolo precisa de seleção de bases, estimação de parâmetros, correção de erros e amplificação de privacidade. O QBER não comprova invasão nem garante sozinho a segurança. Não existe limite universal de 11%.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e ilustrações: referência fornecida pelo usuário, Pitch-Coerencia-Lab.pptx.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Terra, os asteroides e a luz de proteção são metáforas visuais da defesa planetária. QKD protege a distribuição das chaves, sem criar barreiras físicas contra asteroides. Arte orbital gerada com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PESSOA 3 | 60–90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O Quantum Security propõe reunir o gerenciamento das chaves e os alertas em uma única interface. Com equipamentos quânticos conectados, ele disponibilizaria chaves validadas para a criptografia dos dados, mantendo autenticação e integridade. Nosso primeiro passo comercial é um piloto entre dois pontos de uma organização, medindo erros, disponibilidade e custo. Assim, o cliente pode avaliar os resultados antes de ampliar o uso. A proposta ainda precisa de validação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APOIO</a:t>
            </a:r>
          </a:p>
          <a:p xmlns:a="http://schemas.openxmlformats.org/drawingml/2006/main">
            <a:r>
              <a:t>Funcionalidades propostas e piloto a desenvolver. QKD não substitui autenticação, integridade ou segurança dos endpoints. O canal clássico também requer autenticação. Comparar a viabilidade com alternativas, incluindo criptografia pós-quântica.</a:t>
            </a:r>
          </a:p>
          <a:p xmlns:a="http://schemas.openxmlformats.org/drawingml/2006/main">
            <a:r>
              <a:t>https://www.nsa.gov/Cybersecurity/Post-Quantum-Cybersecurity-Resources/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e ilustrações: referência fornecida pelo usuário, Pitch-Coerencia-Lab.pptx.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Terra, os asteroides e a luz de proteção são metáforas visuais da defesa planetária. QKD protege a distribuição das chaves, sem criar barreiras físicas contra asteroides. Arte orbital gerada com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PESSOA 4 | 90–120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 SUGERIDA</a:t>
            </a:r>
          </a:p>
          <a:p xmlns:a="http://schemas.openxmlformats.org/drawingml/2006/main">
            <a:r>
              <a:t>As limitações são importantes. Computadores quânticos atuais ainda erram muito, e qubits podem perder coerência rapidamente ou sofrer interferências externas. Precisamos de testes empíricos para verificar o funcionamento e os resultados. O custo de adquirir e manter hardware quântico também é alto. No nosso sistema, são necessários equipamentos específicos de comunicação quântica, e não um computador quântico universal. Por isso, propomos começar com um piloto controlado para avaliar segurança e viabilidade.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APOIO</a:t>
            </a:r>
          </a:p>
          <a:p xmlns:a="http://schemas.openxmlformats.org/drawingml/2006/main">
            <a:r>
              <a:t>https://quantum.cloud.ibm.com/learning/en/courses/tools-for-quantum-advantage/noise-and-errors</a:t>
            </a:r>
          </a:p>
          <a:p xmlns:a="http://schemas.openxmlformats.org/drawingml/2006/main">
            <a:r>
              <a:t>https://www.ibm.com/quantum/hardware</a:t>
            </a:r>
          </a:p>
          <a:p xmlns:a="http://schemas.openxmlformats.org/drawingml/2006/main">
            <a:r>
              <a:t>https://www.nsa.gov/Cybersecurity/Post-Quantum-Cybersecurity-Resources/</a:t>
            </a:r>
          </a:p>
          <a:p xmlns:a="http://schemas.openxmlformats.org/drawingml/2006/main">
            <a:r>
              <a:t>Interferências externas são ruído indesejado, distinto da interferência quântica útil. A decoerência é perda de coerência. Computadores quânticos têm desafios gerais de custo e ruído, mas QKD requer hardware de comunicação, sem exigir computador quântico universal. O custo específico depende da implementação. Testes empíricos validam a proposta e seus equipamentos.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e ilustrações: referência fornecida pelo usuário, Pitch-Coerencia-Lab.pptx.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Terra, os asteroides e a luz de proteção são metáforas visuais da defesa planetária. QKD protege a distribuição das chaves, sem criar barreiras físicas contra asteroides. Arte orbital gerada com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3b8bc481f47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c131b654943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1d7d0dd144c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247d88e19462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0955eb97d48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b9a52418e42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F22B0E-0F02-4859-91B5-12215D8FA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0D3AF7-3DC5-48AB-A1E0-808BC99E15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5F8861-2B57-484C-B4CD-27CADB8EC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F54B1-A4A6-4CEC-B3AB-973B36DEA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42E75F-E20C-47E5-8E9A-C5BFBE4A7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15D8CA-22BA-44B6-9FA0-FB0FF5C0C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57D65D-CC96-42EA-9D18-ED8A0F55C5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1452FE-9E78-418D-B5E5-F66434C9BF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7ABE06-D903-4EF9-BFF4-092F333CA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B10BA8-3047-4E63-8849-185B5417F3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70784368294d69" /><Relationship Type="http://schemas.openxmlformats.org/officeDocument/2006/relationships/slideLayout" Target="/ppt/slideLayouts/slideLayout1.xml" Id="R9d155da9e9304832" /><Relationship Type="http://schemas.openxmlformats.org/officeDocument/2006/relationships/slideLayout" Target="/ppt/slideLayouts/slideLayout2.xml" Id="R71b3cceb26a8405c" /><Relationship Type="http://schemas.openxmlformats.org/officeDocument/2006/relationships/slideLayout" Target="/ppt/slideLayouts/slideLayout3.xml" Id="Rc0097240f30f4a3b" /><Relationship Type="http://schemas.openxmlformats.org/officeDocument/2006/relationships/slideLayout" Target="/ppt/slideLayouts/slideLayout4.xml" Id="R48ea553fbf74405a" /><Relationship Type="http://schemas.openxmlformats.org/officeDocument/2006/relationships/slideLayout" Target="/ppt/slideLayouts/slideLayout5.xml" Id="R63c6fc59e6374be7" /><Relationship Type="http://schemas.openxmlformats.org/officeDocument/2006/relationships/slideLayout" Target="/ppt/slideLayouts/slideLayout6.xml" Id="Rba2e6e8b02044b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55da9e9304832"/>
    <p:sldLayoutId xmlns:r="http://schemas.openxmlformats.org/officeDocument/2006/relationships" id="2147483650" r:id="R71b3cceb26a8405c"/>
    <p:sldLayoutId xmlns:r="http://schemas.openxmlformats.org/officeDocument/2006/relationships" id="2147483651" r:id="Rc0097240f30f4a3b"/>
    <p:sldLayoutId xmlns:r="http://schemas.openxmlformats.org/officeDocument/2006/relationships" id="2147483652" r:id="R48ea553fbf74405a"/>
    <p:sldLayoutId xmlns:r="http://schemas.openxmlformats.org/officeDocument/2006/relationships" id="2147483653" r:id="R63c6fc59e6374be7"/>
    <p:sldLayoutId xmlns:r="http://schemas.openxmlformats.org/officeDocument/2006/relationships" id="2147483654" r:id="Rba2e6e8b02044b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8b7de830c4649" /><Relationship Type="http://schemas.openxmlformats.org/officeDocument/2006/relationships/image" Target="/ppt/media/image.png" Id="Rbfb0665213844429" /><Relationship Type="http://schemas.openxmlformats.org/officeDocument/2006/relationships/notesSlide" Target="/ppt/notesSlides/notesSlide1.xml" Id="Rf40b3f6c2de6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223693289449d" /><Relationship Type="http://schemas.openxmlformats.org/officeDocument/2006/relationships/image" Target="/ppt/media/image2.png" Id="R606cddd0e6e8431d" /><Relationship Type="http://schemas.openxmlformats.org/officeDocument/2006/relationships/notesSlide" Target="/ppt/notesSlides/notesSlide2.xml" Id="Rccf1457adc9143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c3887dba404849" /><Relationship Type="http://schemas.openxmlformats.org/officeDocument/2006/relationships/image" Target="/ppt/media/image3.png" Id="Rc0ab26c5c7b94ada" /><Relationship Type="http://schemas.openxmlformats.org/officeDocument/2006/relationships/notesSlide" Target="/ppt/notesSlides/notesSlide3.xml" Id="R9e042f21f0b34f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66eb5f70349fc" /><Relationship Type="http://schemas.openxmlformats.org/officeDocument/2006/relationships/image" Target="/ppt/media/image4.png" Id="Rfc1f779027fc4732" /><Relationship Type="http://schemas.openxmlformats.org/officeDocument/2006/relationships/notesSlide" Target="/ppt/notesSlides/notesSlide4.xml" Id="R53c284f518da43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EDB0D-06A3-488D-8F95-E057A8BF79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06652138444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dade">
            <a:extLst xmlns:a="http://schemas.openxmlformats.org/drawingml/2006/main">
              <a:ext uri="{FF2B5EF4-FFF2-40B4-BE49-F238E27FC236}">
                <a16:creationId xmlns:a16="http://schemas.microsoft.com/office/drawing/2014/main" id="{50C6B488-657D-49F3-A34D-B1B4207B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QUANTUM SECURITY</a:t>
            </a:r>
          </a:p>
        </p:txBody>
      </p:sp>
      <p:sp>
        <p:nvSpPr>
          <p:cNvPr id="3" name="Apresentador">
            <a:extLst xmlns:a="http://schemas.openxmlformats.org/drawingml/2006/main">
              <a:ext uri="{FF2B5EF4-FFF2-40B4-BE49-F238E27FC236}">
                <a16:creationId xmlns:a16="http://schemas.microsoft.com/office/drawing/2014/main" id="{20A73DFB-F42B-449F-BBF0-49C6005D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PESSOA 1   0:00–0:30</a:t>
            </a:r>
          </a:p>
        </p:txBody>
      </p:sp>
      <p:sp>
        <p:nvSpPr>
          <p:cNvPr id="4" name="Página">
            <a:extLst xmlns:a="http://schemas.openxmlformats.org/drawingml/2006/main">
              <a:ext uri="{FF2B5EF4-FFF2-40B4-BE49-F238E27FC236}">
                <a16:creationId xmlns:a16="http://schemas.microsoft.com/office/drawing/2014/main" id="{6846CCC5-54A6-47EA-9170-C26EAC80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Nome do aplicativo">
            <a:extLst xmlns:a="http://schemas.openxmlformats.org/drawingml/2006/main">
              <a:ext uri="{FF2B5EF4-FFF2-40B4-BE49-F238E27FC236}">
                <a16:creationId xmlns:a16="http://schemas.microsoft.com/office/drawing/2014/main" id="{962E8B5B-AF29-439A-B899-E2023AF5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685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Quantum</a:t>
            </a:r>
          </a:p>
          <a:p xmlns:a="http://schemas.openxmlformats.org/drawingml/2006/main">
            <a:pPr>
              <a:defRPr sz="58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6" name="Descrição">
            <a:extLst xmlns:a="http://schemas.openxmlformats.org/drawingml/2006/main">
              <a:ext uri="{FF2B5EF4-FFF2-40B4-BE49-F238E27FC236}">
                <a16:creationId xmlns:a16="http://schemas.microsoft.com/office/drawing/2014/main" id="{EF98ACC7-C150-44B1-AAD1-853FAB5D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E8ED"/>
                </a:solidFill>
                <a:latin typeface="Arial"/>
                <a:ea typeface="Arial"/>
                <a:cs typeface="Arial"/>
              </a:rPr>
              <a:t>Criptografia com distribuição</a:t>
            </a:r>
          </a:p>
          <a:p xmlns:a="http://schemas.openxmlformats.org/drawingml/2006/main">
            <a:pPr>
              <a:defRPr sz="2250" b="0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E8ED"/>
                </a:solidFill>
                <a:latin typeface="Arial"/>
                <a:ea typeface="Arial"/>
                <a:cs typeface="Arial"/>
              </a:rPr>
              <a:t>quântica de chaves</a:t>
            </a:r>
          </a:p>
        </p:txBody>
      </p:sp>
      <p:sp>
        <p:nvSpPr>
          <p:cNvPr id="7" name="Problema">
            <a:extLst xmlns:a="http://schemas.openxmlformats.org/drawingml/2006/main">
              <a:ext uri="{FF2B5EF4-FFF2-40B4-BE49-F238E27FC236}">
                <a16:creationId xmlns:a16="http://schemas.microsoft.com/office/drawing/2014/main" id="{4325E00F-40AE-426B-A742-58D1C84E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Dados e comandos precisam de proteção</a:t>
            </a:r>
          </a:p>
        </p:txBody>
      </p:sp>
      <p:sp>
        <p:nvSpPr>
          <p:cNvPr id="8" name="Proposta">
            <a:extLst xmlns:a="http://schemas.openxmlformats.org/drawingml/2006/main">
              <a:ext uri="{FF2B5EF4-FFF2-40B4-BE49-F238E27FC236}">
                <a16:creationId xmlns:a16="http://schemas.microsoft.com/office/drawing/2014/main" id="{40774517-6E7E-406F-B96A-308A0D09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Um programa para gerenciar chaves</a:t>
            </a:r>
          </a:p>
          <a:p xmlns:a="http://schemas.openxmlformats.org/drawingml/2006/main">
            <a:pPr>
              <a:defRPr sz="202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e acompanhar a segurança do canal.</a:t>
            </a:r>
          </a:p>
        </p:txBody>
      </p:sp>
      <p:sp>
        <p:nvSpPr>
          <p:cNvPr id="9" name="Uso">
            <a:extLst xmlns:a="http://schemas.openxmlformats.org/drawingml/2006/main">
              <a:ext uri="{FF2B5EF4-FFF2-40B4-BE49-F238E27FC236}">
                <a16:creationId xmlns:a16="http://schemas.microsoft.com/office/drawing/2014/main" id="{482BEDFD-DF7C-4C19-83AE-DF5EBDDC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Proposta para empresas e centros de pesquisa</a:t>
            </a:r>
          </a:p>
        </p:txBody>
      </p:sp>
    </p:spTree>
    <p:extLst>
      <p:ext uri="{BB962C8B-B14F-4D97-AF65-F5344CB8AC3E}">
        <p14:creationId xmlns:p14="http://schemas.microsoft.com/office/powerpoint/2010/main" val="295753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A8C05-A1B2-4E12-8B0E-60F1D6FDE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cddd0e6e843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dade">
            <a:extLst xmlns:a="http://schemas.openxmlformats.org/drawingml/2006/main">
              <a:ext uri="{FF2B5EF4-FFF2-40B4-BE49-F238E27FC236}">
                <a16:creationId xmlns:a16="http://schemas.microsoft.com/office/drawing/2014/main" id="{8DECC695-02C7-45B0-9B9F-2214B1C0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QUANTUM SECURITY</a:t>
            </a:r>
          </a:p>
        </p:txBody>
      </p:sp>
      <p:sp>
        <p:nvSpPr>
          <p:cNvPr id="3" name="Apresentador">
            <a:extLst xmlns:a="http://schemas.openxmlformats.org/drawingml/2006/main">
              <a:ext uri="{FF2B5EF4-FFF2-40B4-BE49-F238E27FC236}">
                <a16:creationId xmlns:a16="http://schemas.microsoft.com/office/drawing/2014/main" id="{537DA9FD-417F-477C-8CD9-BFE57D0D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PESSOA 2   0:30–1:00</a:t>
            </a:r>
          </a:p>
        </p:txBody>
      </p:sp>
      <p:sp>
        <p:nvSpPr>
          <p:cNvPr id="4" name="Página">
            <a:extLst xmlns:a="http://schemas.openxmlformats.org/drawingml/2006/main">
              <a:ext uri="{FF2B5EF4-FFF2-40B4-BE49-F238E27FC236}">
                <a16:creationId xmlns:a16="http://schemas.microsoft.com/office/drawing/2014/main" id="{ECCED17A-78D5-40CE-BC02-270E10F4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ítulo">
            <a:extLst xmlns:a="http://schemas.openxmlformats.org/drawingml/2006/main">
              <a:ext uri="{FF2B5EF4-FFF2-40B4-BE49-F238E27FC236}">
                <a16:creationId xmlns:a16="http://schemas.microsoft.com/office/drawing/2014/main" id="{D4C9805F-FDB9-4E09-BB28-101A060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A base quântica</a:t>
            </a:r>
          </a:p>
        </p:txBody>
      </p:sp>
      <p:sp>
        <p:nvSpPr>
          <p:cNvPr id="6" name="Qubits">
            <a:extLst xmlns:a="http://schemas.openxmlformats.org/drawingml/2006/main">
              <a:ext uri="{FF2B5EF4-FFF2-40B4-BE49-F238E27FC236}">
                <a16:creationId xmlns:a16="http://schemas.microsoft.com/office/drawing/2014/main" id="{623F531A-6417-4F34-9FC4-6267BE2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Qubits e superposição</a:t>
            </a:r>
          </a:p>
        </p:txBody>
      </p:sp>
      <p:sp>
        <p:nvSpPr>
          <p:cNvPr id="7" name="Definição de qubits">
            <a:extLst xmlns:a="http://schemas.openxmlformats.org/drawingml/2006/main">
              <a:ext uri="{FF2B5EF4-FFF2-40B4-BE49-F238E27FC236}">
                <a16:creationId xmlns:a16="http://schemas.microsoft.com/office/drawing/2014/main" id="{5E206F13-AC7D-48B3-B6AD-CEFD0AB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Um qubit pode estar em superposição de 0 e 1.</a:t>
            </a:r>
          </a:p>
          <a:p xmlns:a="http://schemas.openxmlformats.org/drawingml/2006/main">
            <a:pPr>
              <a:defRPr sz="195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A medição nessa base fornece um resultado.</a:t>
            </a:r>
          </a:p>
        </p:txBody>
      </p:sp>
      <p:sp>
        <p:nvSpPr>
          <p:cNvPr id="8" name="Entrelaçamento">
            <a:extLst xmlns:a="http://schemas.openxmlformats.org/drawingml/2006/main">
              <a:ext uri="{FF2B5EF4-FFF2-40B4-BE49-F238E27FC236}">
                <a16:creationId xmlns:a16="http://schemas.microsoft.com/office/drawing/2014/main" id="{4405FB9C-7EF7-4B57-8144-D2DC0D94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Entrelaçamento</a:t>
            </a:r>
          </a:p>
        </p:txBody>
      </p:sp>
      <p:sp>
        <p:nvSpPr>
          <p:cNvPr id="9" name="Definição de entrelaçamento">
            <a:extLst xmlns:a="http://schemas.openxmlformats.org/drawingml/2006/main">
              <a:ext uri="{FF2B5EF4-FFF2-40B4-BE49-F238E27FC236}">
                <a16:creationId xmlns:a16="http://schemas.microsoft.com/office/drawing/2014/main" id="{71F1843C-428A-4FBD-BE34-A2AF049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Partículas compartilham um estado quântico.</a:t>
            </a:r>
          </a:p>
          <a:p xmlns:a="http://schemas.openxmlformats.org/drawingml/2006/main">
            <a:pPr>
              <a:defRPr sz="195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Medições e verificações permitem gerar chaves.</a:t>
            </a:r>
          </a:p>
        </p:txBody>
      </p:sp>
      <p:sp>
        <p:nvSpPr>
          <p:cNvPr id="10" name="QBER">
            <a:extLst xmlns:a="http://schemas.openxmlformats.org/drawingml/2006/main">
              <a:ext uri="{FF2B5EF4-FFF2-40B4-BE49-F238E27FC236}">
                <a16:creationId xmlns:a16="http://schemas.microsoft.com/office/drawing/2014/main" id="{F6DFB46C-F7AE-4034-8036-D8E36FF8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B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BB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B72"/>
                </a:solidFill>
                <a:latin typeface="Arial"/>
                <a:ea typeface="Arial"/>
                <a:cs typeface="Arial"/>
              </a:rPr>
              <a:t>QBER: taxa de erros</a:t>
            </a:r>
          </a:p>
        </p:txBody>
      </p:sp>
      <p:sp>
        <p:nvSpPr>
          <p:cNvPr id="11" name="Definição de QBER">
            <a:extLst xmlns:a="http://schemas.openxmlformats.org/drawingml/2006/main">
              <a:ext uri="{FF2B5EF4-FFF2-40B4-BE49-F238E27FC236}">
                <a16:creationId xmlns:a16="http://schemas.microsoft.com/office/drawing/2014/main" id="{FA39A865-7952-4B95-8FC9-E0F7EDE4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695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Ruído ou espionagem podem elevar os erros.</a:t>
            </a:r>
          </a:p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O protocolo rejeita novas chaves sem segurança suficiente.</a:t>
            </a:r>
          </a:p>
        </p:txBody>
      </p:sp>
    </p:spTree>
    <p:extLst>
      <p:ext uri="{BB962C8B-B14F-4D97-AF65-F5344CB8AC3E}">
        <p14:creationId xmlns:p14="http://schemas.microsoft.com/office/powerpoint/2010/main" val="4267699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CF30D-2AA7-4530-8BE2-F0591AD1BF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b26c5c7b94a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dade">
            <a:extLst xmlns:a="http://schemas.openxmlformats.org/drawingml/2006/main">
              <a:ext uri="{FF2B5EF4-FFF2-40B4-BE49-F238E27FC236}">
                <a16:creationId xmlns:a16="http://schemas.microsoft.com/office/drawing/2014/main" id="{B425A788-A882-4A56-95CB-49566A02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QUANTUM SECURITY</a:t>
            </a:r>
          </a:p>
        </p:txBody>
      </p:sp>
      <p:sp>
        <p:nvSpPr>
          <p:cNvPr id="3" name="Apresentador">
            <a:extLst xmlns:a="http://schemas.openxmlformats.org/drawingml/2006/main">
              <a:ext uri="{FF2B5EF4-FFF2-40B4-BE49-F238E27FC236}">
                <a16:creationId xmlns:a16="http://schemas.microsoft.com/office/drawing/2014/main" id="{6125DACE-8E1B-4362-828B-7B147D5A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PESSOA 3   1:00–1:30</a:t>
            </a:r>
          </a:p>
        </p:txBody>
      </p:sp>
      <p:sp>
        <p:nvSpPr>
          <p:cNvPr id="4" name="Página">
            <a:extLst xmlns:a="http://schemas.openxmlformats.org/drawingml/2006/main">
              <a:ext uri="{FF2B5EF4-FFF2-40B4-BE49-F238E27FC236}">
                <a16:creationId xmlns:a16="http://schemas.microsoft.com/office/drawing/2014/main" id="{938409D1-1A4F-4D25-B1EE-9C00A202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ítulo">
            <a:extLst xmlns:a="http://schemas.openxmlformats.org/drawingml/2006/main">
              <a:ext uri="{FF2B5EF4-FFF2-40B4-BE49-F238E27FC236}">
                <a16:creationId xmlns:a16="http://schemas.microsoft.com/office/drawing/2014/main" id="{2A47AE80-E70D-477D-ACBA-78D480BC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714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7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O sistema proposto</a:t>
            </a:r>
          </a:p>
        </p:txBody>
      </p:sp>
      <p:sp>
        <p:nvSpPr>
          <p:cNvPr id="6" name="Número 1">
            <a:extLst xmlns:a="http://schemas.openxmlformats.org/drawingml/2006/main">
              <a:ext uri="{FF2B5EF4-FFF2-40B4-BE49-F238E27FC236}">
                <a16:creationId xmlns:a16="http://schemas.microsoft.com/office/drawing/2014/main" id="{328BC1E5-8172-445C-9F9A-3A9FE1F8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Etapa 1">
            <a:extLst xmlns:a="http://schemas.openxmlformats.org/drawingml/2006/main">
              <a:ext uri="{FF2B5EF4-FFF2-40B4-BE49-F238E27FC236}">
                <a16:creationId xmlns:a16="http://schemas.microsoft.com/office/drawing/2014/main" id="{7999622B-D1B3-441A-AD22-6F61ED2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52650"/>
            <a:ext cx="606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Conectar equipamentos QKD</a:t>
            </a:r>
          </a:p>
        </p:txBody>
      </p:sp>
      <p:sp>
        <p:nvSpPr>
          <p:cNvPr id="8" name="Explicação 1">
            <a:extLst xmlns:a="http://schemas.openxmlformats.org/drawingml/2006/main">
              <a:ext uri="{FF2B5EF4-FFF2-40B4-BE49-F238E27FC236}">
                <a16:creationId xmlns:a16="http://schemas.microsoft.com/office/drawing/2014/main" id="{F879453A-F108-4174-8784-FB5274F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62225"/>
            <a:ext cx="606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Integração com comunicação quântica.</a:t>
            </a:r>
          </a:p>
        </p:txBody>
      </p:sp>
      <p:sp>
        <p:nvSpPr>
          <p:cNvPr id="9" name="Número 2">
            <a:extLst xmlns:a="http://schemas.openxmlformats.org/drawingml/2006/main">
              <a:ext uri="{FF2B5EF4-FFF2-40B4-BE49-F238E27FC236}">
                <a16:creationId xmlns:a16="http://schemas.microsoft.com/office/drawing/2014/main" id="{16FD26D6-B56F-4F3F-A24A-55217D3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Etapa 2">
            <a:extLst xmlns:a="http://schemas.openxmlformats.org/drawingml/2006/main">
              <a:ext uri="{FF2B5EF4-FFF2-40B4-BE49-F238E27FC236}">
                <a16:creationId xmlns:a16="http://schemas.microsoft.com/office/drawing/2014/main" id="{183342AD-3925-4D2E-8259-35E7D81D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95625"/>
            <a:ext cx="606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Monitorar o canal</a:t>
            </a:r>
          </a:p>
        </p:txBody>
      </p:sp>
      <p:sp>
        <p:nvSpPr>
          <p:cNvPr id="11" name="Explicação 2">
            <a:extLst xmlns:a="http://schemas.openxmlformats.org/drawingml/2006/main">
              <a:ext uri="{FF2B5EF4-FFF2-40B4-BE49-F238E27FC236}">
                <a16:creationId xmlns:a16="http://schemas.microsoft.com/office/drawing/2014/main" id="{CB547EAA-E0D5-4539-9217-CA8F1F5C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05200"/>
            <a:ext cx="606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Taxa de erros e alertas em uma interface.</a:t>
            </a:r>
          </a:p>
        </p:txBody>
      </p:sp>
      <p:sp>
        <p:nvSpPr>
          <p:cNvPr id="12" name="Número 3">
            <a:extLst xmlns:a="http://schemas.openxmlformats.org/drawingml/2006/main">
              <a:ext uri="{FF2B5EF4-FFF2-40B4-BE49-F238E27FC236}">
                <a16:creationId xmlns:a16="http://schemas.microsoft.com/office/drawing/2014/main" id="{206BD788-FB25-4FC9-A866-51E43C7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Etapa 3">
            <a:extLst xmlns:a="http://schemas.openxmlformats.org/drawingml/2006/main">
              <a:ext uri="{FF2B5EF4-FFF2-40B4-BE49-F238E27FC236}">
                <a16:creationId xmlns:a16="http://schemas.microsoft.com/office/drawing/2014/main" id="{3B3F4585-EE5D-49F9-AB82-2D42D71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38600"/>
            <a:ext cx="606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Gerenciar chaves validadas</a:t>
            </a:r>
          </a:p>
        </p:txBody>
      </p:sp>
      <p:sp>
        <p:nvSpPr>
          <p:cNvPr id="14" name="Explicação 3">
            <a:extLst xmlns:a="http://schemas.openxmlformats.org/drawingml/2006/main">
              <a:ext uri="{FF2B5EF4-FFF2-40B4-BE49-F238E27FC236}">
                <a16:creationId xmlns:a16="http://schemas.microsoft.com/office/drawing/2014/main" id="{9990C922-3DF4-4281-9DF7-AC3EDF67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48175"/>
            <a:ext cx="606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Cifragem dos dados com autenticação.</a:t>
            </a:r>
          </a:p>
        </p:txBody>
      </p:sp>
      <p:sp>
        <p:nvSpPr>
          <p:cNvPr id="15" name="Número 4">
            <a:extLst xmlns:a="http://schemas.openxmlformats.org/drawingml/2006/main">
              <a:ext uri="{FF2B5EF4-FFF2-40B4-BE49-F238E27FC236}">
                <a16:creationId xmlns:a16="http://schemas.microsoft.com/office/drawing/2014/main" id="{EA2F83D0-B575-4795-BF6C-D98697AC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Etapa 4">
            <a:extLst xmlns:a="http://schemas.openxmlformats.org/drawingml/2006/main">
              <a:ext uri="{FF2B5EF4-FFF2-40B4-BE49-F238E27FC236}">
                <a16:creationId xmlns:a16="http://schemas.microsoft.com/office/drawing/2014/main" id="{E67E35D9-CC0C-465D-ACCC-0472CB06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81575"/>
            <a:ext cx="6067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Começar com um piloto</a:t>
            </a:r>
          </a:p>
        </p:txBody>
      </p:sp>
      <p:sp>
        <p:nvSpPr>
          <p:cNvPr id="17" name="Explicação 4">
            <a:extLst xmlns:a="http://schemas.openxmlformats.org/drawingml/2006/main">
              <a:ext uri="{FF2B5EF4-FFF2-40B4-BE49-F238E27FC236}">
                <a16:creationId xmlns:a16="http://schemas.microsoft.com/office/drawing/2014/main" id="{7F3E93B9-69E0-4510-A979-64754917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391150"/>
            <a:ext cx="6067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Dois pontos de uma organização.</a:t>
            </a:r>
          </a:p>
        </p:txBody>
      </p:sp>
      <p:sp>
        <p:nvSpPr>
          <p:cNvPr id="18" name="Critérios do piloto">
            <a:extLst xmlns:a="http://schemas.openxmlformats.org/drawingml/2006/main">
              <a:ext uri="{FF2B5EF4-FFF2-40B4-BE49-F238E27FC236}">
                <a16:creationId xmlns:a16="http://schemas.microsoft.com/office/drawing/2014/main" id="{04351D84-D061-4F9E-9177-91292C2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681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1E8ED"/>
                </a:solidFill>
                <a:latin typeface="Arial"/>
                <a:ea typeface="Arial"/>
                <a:cs typeface="Arial"/>
              </a:rPr>
              <a:t>Avaliar segurança, disponibilidade e custo</a:t>
            </a:r>
          </a:p>
        </p:txBody>
      </p:sp>
    </p:spTree>
    <p:extLst>
      <p:ext uri="{BB962C8B-B14F-4D97-AF65-F5344CB8AC3E}">
        <p14:creationId xmlns:p14="http://schemas.microsoft.com/office/powerpoint/2010/main" val="809771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15002-F76E-4699-BF61-BAC85CB94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f779027fc47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dade">
            <a:extLst xmlns:a="http://schemas.openxmlformats.org/drawingml/2006/main">
              <a:ext uri="{FF2B5EF4-FFF2-40B4-BE49-F238E27FC236}">
                <a16:creationId xmlns:a16="http://schemas.microsoft.com/office/drawing/2014/main" id="{C2C796D3-4B81-4D73-84F0-30BB43B8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QUANTUM SECURITY</a:t>
            </a:r>
          </a:p>
        </p:txBody>
      </p:sp>
      <p:sp>
        <p:nvSpPr>
          <p:cNvPr id="3" name="Apresentador">
            <a:extLst xmlns:a="http://schemas.openxmlformats.org/drawingml/2006/main">
              <a:ext uri="{FF2B5EF4-FFF2-40B4-BE49-F238E27FC236}">
                <a16:creationId xmlns:a16="http://schemas.microsoft.com/office/drawing/2014/main" id="{C3A07516-2F53-411D-AA5B-959EDA4B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PESSOA 4   1:30–2:00</a:t>
            </a:r>
          </a:p>
        </p:txBody>
      </p:sp>
      <p:sp>
        <p:nvSpPr>
          <p:cNvPr id="4" name="Página">
            <a:extLst xmlns:a="http://schemas.openxmlformats.org/drawingml/2006/main">
              <a:ext uri="{FF2B5EF4-FFF2-40B4-BE49-F238E27FC236}">
                <a16:creationId xmlns:a16="http://schemas.microsoft.com/office/drawing/2014/main" id="{A86E64AD-3C6D-4D37-90BE-A217DE5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10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ítulo">
            <a:extLst xmlns:a="http://schemas.openxmlformats.org/drawingml/2006/main">
              <a:ext uri="{FF2B5EF4-FFF2-40B4-BE49-F238E27FC236}">
                <a16:creationId xmlns:a16="http://schemas.microsoft.com/office/drawing/2014/main" id="{E53F53D1-0E7E-42BC-814A-10A81A0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28725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0F7FF"/>
                </a:solidFill>
                <a:latin typeface="Arial"/>
                <a:ea typeface="Arial"/>
                <a:cs typeface="Arial"/>
              </a:rPr>
              <a:t>Limitações</a:t>
            </a:r>
          </a:p>
        </p:txBody>
      </p:sp>
      <p:sp>
        <p:nvSpPr>
          <p:cNvPr id="6" name="Erros">
            <a:extLst xmlns:a="http://schemas.openxmlformats.org/drawingml/2006/main">
              <a:ext uri="{FF2B5EF4-FFF2-40B4-BE49-F238E27FC236}">
                <a16:creationId xmlns:a16="http://schemas.microsoft.com/office/drawing/2014/main" id="{87AF7345-0B92-49DA-B073-746325A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BB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BB7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B72"/>
                </a:solidFill>
                <a:latin typeface="Arial"/>
                <a:ea typeface="Arial"/>
                <a:cs typeface="Arial"/>
              </a:rPr>
              <a:t>Computadores quânticos atuais erram muito</a:t>
            </a:r>
          </a:p>
        </p:txBody>
      </p:sp>
      <p:sp>
        <p:nvSpPr>
          <p:cNvPr id="7" name="Decoerência e ruído">
            <a:extLst xmlns:a="http://schemas.openxmlformats.org/drawingml/2006/main">
              <a:ext uri="{FF2B5EF4-FFF2-40B4-BE49-F238E27FC236}">
                <a16:creationId xmlns:a16="http://schemas.microsoft.com/office/drawing/2014/main" id="{0721C29B-0595-4158-87E1-92A1AB38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00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Qubits podem perder coerência rapidamente (decoerência).</a:t>
            </a:r>
          </a:p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Também podem sofrer interferências externas e ruído.</a:t>
            </a:r>
          </a:p>
        </p:txBody>
      </p:sp>
      <p:sp>
        <p:nvSpPr>
          <p:cNvPr id="8" name="Testes">
            <a:extLst xmlns:a="http://schemas.openxmlformats.org/drawingml/2006/main">
              <a:ext uri="{FF2B5EF4-FFF2-40B4-BE49-F238E27FC236}">
                <a16:creationId xmlns:a16="http://schemas.microsoft.com/office/drawing/2014/main" id="{2433FDFC-B4D0-4338-85F7-8A5AEBBB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Necessidade de testes empíricos</a:t>
            </a:r>
          </a:p>
        </p:txBody>
      </p:sp>
      <p:sp>
        <p:nvSpPr>
          <p:cNvPr id="9" name="Verificação experimental">
            <a:extLst xmlns:a="http://schemas.openxmlformats.org/drawingml/2006/main">
              <a:ext uri="{FF2B5EF4-FFF2-40B4-BE49-F238E27FC236}">
                <a16:creationId xmlns:a16="http://schemas.microsoft.com/office/drawing/2014/main" id="{2D8B6521-28B2-4DAB-A9A2-BC2703F5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695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É preciso verificar o funcionamento e os resultados</a:t>
            </a:r>
          </a:p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por meio de experiências.</a:t>
            </a:r>
          </a:p>
        </p:txBody>
      </p:sp>
      <p:sp>
        <p:nvSpPr>
          <p:cNvPr id="10" name="Custo">
            <a:extLst xmlns:a="http://schemas.openxmlformats.org/drawingml/2006/main">
              <a:ext uri="{FF2B5EF4-FFF2-40B4-BE49-F238E27FC236}">
                <a16:creationId xmlns:a16="http://schemas.microsoft.com/office/drawing/2014/main" id="{210779DE-FA2A-4364-95C7-1E5092D2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1E8E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Alto custo</a:t>
            </a:r>
          </a:p>
        </p:txBody>
      </p:sp>
      <p:sp>
        <p:nvSpPr>
          <p:cNvPr id="11" name="Explicação de custo">
            <a:extLst xmlns:a="http://schemas.openxmlformats.org/drawingml/2006/main">
              <a:ext uri="{FF2B5EF4-FFF2-40B4-BE49-F238E27FC236}">
                <a16:creationId xmlns:a16="http://schemas.microsoft.com/office/drawing/2014/main" id="{EE18D488-A337-4365-9444-9736017D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57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Adquirir e manter computadores quânticos é caro</a:t>
            </a:r>
          </a:p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em relação aos tradicionais. QKD também exige</a:t>
            </a:r>
          </a:p>
          <a:p xmlns:a="http://schemas.openxmlformats.org/drawingml/2006/main">
            <a:pPr>
              <a:defRPr sz="1800" b="0">
                <a:solidFill>
                  <a:srgbClr val="F0F7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0F7FF"/>
                </a:solidFill>
                <a:latin typeface="Arial"/>
                <a:ea typeface="Arial"/>
                <a:cs typeface="Arial"/>
              </a:rPr>
              <a:t>equipamentos próprios de comunicação.</a:t>
            </a:r>
          </a:p>
        </p:txBody>
      </p:sp>
      <p:sp>
        <p:nvSpPr>
          <p:cNvPr id="12" name="Escopo QKD">
            <a:extLst xmlns:a="http://schemas.openxmlformats.org/drawingml/2006/main">
              <a:ext uri="{FF2B5EF4-FFF2-40B4-BE49-F238E27FC236}">
                <a16:creationId xmlns:a16="http://schemas.microsoft.com/office/drawing/2014/main" id="{F39807B9-1077-4723-9B38-04872C93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57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AEBE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ED1"/>
                </a:solidFill>
                <a:latin typeface="Arial"/>
                <a:ea typeface="Arial"/>
                <a:cs typeface="Arial"/>
              </a:rPr>
              <a:t>QKD não exige um computador quântico universal.</a:t>
            </a:r>
          </a:p>
        </p:txBody>
      </p:sp>
    </p:spTree>
    <p:extLst>
      <p:ext uri="{BB962C8B-B14F-4D97-AF65-F5344CB8AC3E}">
        <p14:creationId xmlns:p14="http://schemas.microsoft.com/office/powerpoint/2010/main" val="504658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2026-10-13T13:27:04.9460000Z</dcterms:created>
  <dcterms:modified xsi:type="dcterms:W3CDTF">2026-10-13T13:27:04.9470000Z</dcterms:modified>
</coreProperties>
</file>
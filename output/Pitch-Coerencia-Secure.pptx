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d43485e68f400e" /><Relationship Type="http://schemas.openxmlformats.org/officeDocument/2006/relationships/extended-properties" Target="/docProps/app.xml" Id="R404bba00b20d485d" /><Relationship Type="http://schemas.openxmlformats.org/officeDocument/2006/relationships/officeDocument" Target="/ppt/presentation.xml" Id="R368b915ffdb941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15bca0e744228"/>
  </p:sldMasterIdLst>
  <p:notesMasterIdLst>
    <p:notesMasterId xmlns:r="http://schemas.openxmlformats.org/officeDocument/2006/relationships" r:id="R0b583b4da59a447d"/>
  </p:notesMasterIdLst>
  <p:sldIdLst>
    <p:sldId xmlns:r="http://schemas.openxmlformats.org/officeDocument/2006/relationships" id="256" r:id="R23fe563373c44f59"/>
    <p:sldId xmlns:r="http://schemas.openxmlformats.org/officeDocument/2006/relationships" id="257" r:id="Rcd194ac4b8b44457"/>
    <p:sldId xmlns:r="http://schemas.openxmlformats.org/officeDocument/2006/relationships" id="258" r:id="R49cb30c119624396"/>
    <p:sldId xmlns:r="http://schemas.openxmlformats.org/officeDocument/2006/relationships" id="259" r:id="R56a372bae3de421d"/>
  </p:sldIdLst>
  <p:sldSz cx="12192000" cy="6858000"/>
  <p:notesSz cx="6858000" cy="9144000"/>
  <p:defaultTextStyle>
    <a:defPPr xmlns:a="http://schemas.openxmlformats.org/drawingml/2006/main">
      <a:buNone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08756d2fd24742" /><Relationship Type="http://schemas.openxmlformats.org/officeDocument/2006/relationships/slideMaster" Target="/ppt/slideMasters/slideMaster1.xml" Id="Red615bca0e744228" /><Relationship Type="http://schemas.openxmlformats.org/officeDocument/2006/relationships/notesMaster" Target="/ppt/notesMasters/notesMaster1.xml" Id="R0b583b4da59a447d" /><Relationship Type="http://schemas.openxmlformats.org/officeDocument/2006/relationships/presProps" Target="/ppt/presProps.xml" Id="R859053fd1d474847" /><Relationship Type="http://schemas.openxmlformats.org/officeDocument/2006/relationships/tableStyles" Target="/ppt/tableStyles.xml" Id="R147a8e4cf06849ba" /><Relationship Type="http://schemas.openxmlformats.org/officeDocument/2006/relationships/slide" Target="/ppt/slides/slide1.xml" Id="R23fe563373c44f59" /><Relationship Type="http://schemas.openxmlformats.org/officeDocument/2006/relationships/slide" Target="/ppt/slides/slide2.xml" Id="Rcd194ac4b8b44457" /><Relationship Type="http://schemas.openxmlformats.org/officeDocument/2006/relationships/slide" Target="/ppt/slides/slide3.xml" Id="R49cb30c119624396" /><Relationship Type="http://schemas.openxmlformats.org/officeDocument/2006/relationships/slide" Target="/ppt/slides/slide4.xml" Id="R56a372bae3de42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3c374b0f3242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UBIT">
  <a:themeElements>
    <a:clrScheme name="Coerência">
      <a:dk1>
        <a:srgbClr val="10182B"/>
      </a:dk1>
      <a:lt1>
        <a:srgbClr val="EAF3FF"/>
      </a:lt1>
      <a:dk2>
        <a:srgbClr val="172840"/>
      </a:dk2>
      <a:lt2>
        <a:srgbClr val="AFBDD5"/>
      </a:lt2>
      <a:accent1>
        <a:srgbClr val="61E8ED"/>
      </a:accent1>
      <a:accent2>
        <a:srgbClr val="D796FF"/>
      </a:accent2>
      <a:accent3>
        <a:srgbClr val="F2C572"/>
      </a:accent3>
      <a:accent4>
        <a:srgbClr val="F066AD"/>
      </a:accent4>
      <a:accent5>
        <a:srgbClr val="76DDA8"/>
      </a:accent5>
      <a:accent6>
        <a:srgbClr val="83A8FF"/>
      </a:accent6>
      <a:hlink>
        <a:srgbClr val="61E8ED"/>
      </a:hlink>
      <a:folHlink>
        <a:srgbClr val="D796F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erênc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8bb3cc15b34c00" /><Relationship Type="http://schemas.openxmlformats.org/officeDocument/2006/relationships/notesMaster" Target="/ppt/notesMasters/notesMaster1.xml" Id="Rb503b4a5e5ec42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67a0d93cde4d60" /><Relationship Type="http://schemas.openxmlformats.org/officeDocument/2006/relationships/notesMaster" Target="/ppt/notesMasters/notesMaster1.xml" Id="R6d69a0a3876e4c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b1a2aa90d84202" /><Relationship Type="http://schemas.openxmlformats.org/officeDocument/2006/relationships/notesMaster" Target="/ppt/notesMasters/notesMaster1.xml" Id="R0ef71eef6da648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b3383bc7ff4354" /><Relationship Type="http://schemas.openxmlformats.org/officeDocument/2006/relationships/notesMaster" Target="/ppt/notesMasters/notesMaster1.xml" Id="Rd47c157081b04a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1 | 0–30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Empresas e centros de pesquisa precisam proteger dados sensíveis e os comandos de seus sistemas. Nossa proposta é o Coerência Secure: um programa que integra equipamentos de distribuição quântica de chaves à comunicação já existente. Ele gerencia chaves e acompanha a qualidade do canal. Queremos oferecer mais controle sobre a segurança da troca de informações. O jogo ilustra essa ideia, mas o produto proposto é o sistema de proteção.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Proposta conceitual de produto, sem implementação QKD real no jogo. Público e funcionalidades representam a proposta, não clientes ou capacidades já comprovadas. QKD distribui chaves e requer equipamentos específicos. Não confundir com criptografia pós-quântica, baseada em algoritmos clássicos.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https://www.nsa.gov/Cybersecurity/Post-Quantum-Cybersecurity-Resources/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Design e ilustrações: referência fornecida pelo usuário, Pitch-Coerencia-Lab.pptx.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2 | 30–60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A base da proposta são os qubits, que podem estar em superposição de zero e um. No entrelaçamento, duas partículas compartilham um estado e apresentam resultados correlacionados. Medições e verificações permitem gerar uma chave secreta. O sistema acompanha o QBER, a taxa de erros, para avaliar se o protocolo permite gerar uma chave segura. Erros podem indicar ruído ou espionagem, e uma taxa excessiva exige rejeitar aquela nova chave.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https://quantum.cloud.ibm.com/learning/en/modules/quantum-mechanics/superposition-with-qiskit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https://journals.aps.org/prl/abstract/10.1103/PhysRevLett.67.661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https://quantum.cloud.ibm.com/learning/en/modules/computer-science/quantum-key-distribution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O protocolo precisa de seleção de bases, estimação de parâmetros, correção de erros e amplificação de privacidade. O QBER não comprova invasão nem garante sozinho a segurança. Não existe limite universal de 11%.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Design e ilustrações: referência fornecida pelo usuário, Pitch-Coerencia-Lab.pptx.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3 | 60–90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O Coerência Secure propõe reunir o gerenciamento das chaves e os alertas em uma única interface. Com equipamentos quânticos conectados, ele disponibilizaria chaves validadas para a criptografia dos dados, mantendo autenticação e integridade. Nosso primeiro passo comercial é um piloto entre dois pontos de uma organização, medindo erros, disponibilidade e custo. Assim, o cliente pode avaliar os resultados antes de ampliar o uso. A proposta ainda precisa de validação real.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Funcionalidades propostas e piloto a desenvolver. QKD não substitui autenticação, integridade ou segurança dos endpoints. O canal clássico também requer autenticação. Comparar a viabilidade com alternativas, incluindo criptografia pós-quântica.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https://www.nsa.gov/Cybersecurity/Post-Quantum-Cybersecurity-Resources/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Design e ilustrações: referência fornecida pelo usuário, Pitch-Coerencia-Lab.pptx.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PESSOA 4 | 90–120 segundos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FALA SUGERIDA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As limitações são importantes. Computadores quânticos atuais ainda erram muito, e qubits podem perder coerência rapidamente ou sofrer interferências externas. Precisamos de testes empíricos para verificar o funcionamento e os resultados. O custo de adquirir e manter hardware quântico também é alto. No nosso sistema, são necessários equipamentos específicos de comunicação quântica, e não um computador quântico universal. Por isso, propomos começar com um piloto controlado para avaliar segurança e viabilidade.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FONTES E APOIO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https://quantum.cloud.ibm.com/learning/en/courses/tools-for-quantum-advantage/noise-and-errors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https://www.ibm.com/quantum/hardware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https://www.nsa.gov/Cybersecurity/Post-Quantum-Cybersecurity-Resources/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Interferências externas são ruído indesejado, distinto da interferência quântica útil. A decoerência é perda de coerência. Computadores quânticos têm desafios gerais de custo e ruído, mas QKD requer hardware de comunicação, sem exigir computador quântico universal. O custo específico depende da implementação. Testes empíricos validam a proposta e seus equipamentos.</a:t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/>
            </a:r>
            <a:endParaRPr sz="10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050" b="0">
                <a:solidFill>
                  <a:srgbClr val="172840"/>
                </a:solidFill>
                <a:latin typeface="Arial"/>
                <a:ea typeface="Arial"/>
                <a:cs typeface="Arial"/>
              </a:rPr>
              <a:t>Design e ilustrações: referência fornecida pelo usuário, Pitch-Coerencia-Lab.pptx.</a:t>
            </a:r>
            <a:endParaRPr sz="105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9731255934ce8" /></Relationships>
</file>

<file path=ppt/slideLayouts/slideLayout1.xml><?xml version="1.0" encoding="utf-8"?>
<p:sldLayout xmlns:p="http://schemas.openxmlformats.org/presentationml/2006/main" type="blank" preserve="1">
  <p:cSld name="Livr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60be63e13d42dc" /><Relationship Type="http://schemas.openxmlformats.org/officeDocument/2006/relationships/slideLayout" Target="/ppt/slideLayouts/slideLayout1.xml" Id="R028b69c4a8ef4a62" /></Relationships>
</file>

<file path=ppt/slideMasters/slideMaster1.xml><?xml version="1.0" encoding="utf-8"?>
<p:sldMaster xmlns:p="http://schemas.openxmlformats.org/presentationml/2006/main">
  <p:cSld name="Coerênci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8b69c4a8ef4a62"/>
  </p:sldLayoutIdLst>
</p:sldMaster>
</file>

<file path=ppt/slideMasters/theme/theme2.xml><?xml version="1.0" encoding="utf-8"?>
<a:theme xmlns:a="http://schemas.openxmlformats.org/drawingml/2006/main" name="QUBIT">
  <a:themeElements>
    <a:clrScheme name="Coerência">
      <a:dk1>
        <a:srgbClr val="10182B"/>
      </a:dk1>
      <a:lt1>
        <a:srgbClr val="EAF3FF"/>
      </a:lt1>
      <a:dk2>
        <a:srgbClr val="172840"/>
      </a:dk2>
      <a:lt2>
        <a:srgbClr val="AFBDD5"/>
      </a:lt2>
      <a:accent1>
        <a:srgbClr val="61E8ED"/>
      </a:accent1>
      <a:accent2>
        <a:srgbClr val="D796FF"/>
      </a:accent2>
      <a:accent3>
        <a:srgbClr val="F2C572"/>
      </a:accent3>
      <a:accent4>
        <a:srgbClr val="F066AD"/>
      </a:accent4>
      <a:accent5>
        <a:srgbClr val="76DDA8"/>
      </a:accent5>
      <a:accent6>
        <a:srgbClr val="83A8FF"/>
      </a:accent6>
      <a:hlink>
        <a:srgbClr val="61E8ED"/>
      </a:hlink>
      <a:folHlink>
        <a:srgbClr val="D796F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erênc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278e821684c87" /><Relationship Type="http://schemas.openxmlformats.org/officeDocument/2006/relationships/image" Target="/ppt/media/image.png" Id="Rbf10627f95ac49cb" /><Relationship Type="http://schemas.openxmlformats.org/officeDocument/2006/relationships/image" Target="/ppt/media/image.svg" Id="R2e16059b89f144b4" /><Relationship Type="http://schemas.openxmlformats.org/officeDocument/2006/relationships/notesSlide" Target="/ppt/notesSlides/notesSlide1.xml" Id="Ra3fd023b907448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833ac882c499c" /><Relationship Type="http://schemas.openxmlformats.org/officeDocument/2006/relationships/image" Target="/ppt/media/image2.png" Id="R7618a0f66f614fd9" /><Relationship Type="http://schemas.openxmlformats.org/officeDocument/2006/relationships/image" Target="/ppt/media/image2.svg" Id="Re85071e0d797444c" /><Relationship Type="http://schemas.openxmlformats.org/officeDocument/2006/relationships/notesSlide" Target="/ppt/notesSlides/notesSlide2.xml" Id="Ra599217787d744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32c7dda944977" /><Relationship Type="http://schemas.openxmlformats.org/officeDocument/2006/relationships/image" Target="/ppt/media/image3.png" Id="Rc47ddec2d6444a11" /><Relationship Type="http://schemas.openxmlformats.org/officeDocument/2006/relationships/image" Target="/ppt/media/image3.svg" Id="Rb85fccb16d034cda" /><Relationship Type="http://schemas.openxmlformats.org/officeDocument/2006/relationships/notesSlide" Target="/ppt/notesSlides/notesSlide3.xml" Id="R29bce751b17d4f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8d68ab52a4cdb" /><Relationship Type="http://schemas.openxmlformats.org/officeDocument/2006/relationships/image" Target="/ppt/media/image4.png" Id="Rff3d7264b3984a33" /><Relationship Type="http://schemas.openxmlformats.org/officeDocument/2006/relationships/image" Target="/ppt/media/image4.svg" Id="Re726d36168084905" /><Relationship Type="http://schemas.openxmlformats.org/officeDocument/2006/relationships/notesSlide" Target="/ppt/notesSlides/notesSlide4.xml" Id="R748dfcfb4a614b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08D7F5C0-1444-499A-B9BC-3AD40B5E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1   0:00–0:30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2E028C8F-1CB2-46B2-BD08-A3A7D0A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45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Coerência Secure</a:t>
            </a:r>
            <a:endParaRPr sz="345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5A617E7E-D6F1-4869-B7BB-41374A3C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O problema</a:t>
            </a:r>
            <a:endParaRPr sz="2250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53975076-6A74-41CA-A96F-754886E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7858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Proteger dados sensíveis e comandos</a:t>
            </a:r>
            <a:endParaRPr sz="225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entre dois pontos de uma organização.</a:t>
            </a:r>
            <a:endParaRPr sz="2250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20D7C8C8-4F1B-4C8D-AB61-727DEE27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Nossa proposta</a:t>
            </a:r>
            <a:endParaRPr sz="2250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5773AACD-EA57-4981-9073-0A9DBBDB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78581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Um programa para gerenciar chaves</a:t>
            </a:r>
            <a:endParaRPr sz="210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e integrar comunicação quântica segura.</a:t>
            </a:r>
            <a:endParaRPr sz="2100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F42A2FCD-506F-49F0-A14F-92725AF2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80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Proposta de sistema com distribuição quântica de chaves (QKD).</a:t>
            </a:r>
            <a:endParaRPr sz="1800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3535B0C2-8A67-4159-8A44-86669740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01</a:t>
            </a:r>
            <a:endParaRPr sz="1350"/>
          </a:p>
        </p:txBody>
      </p:sp>
      <p:pic>
        <p:nvPicPr>
          <p:cNvPr id="10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EEB91E17-983E-42DF-9DB1-86D3365F01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0627f95ac49cb">
            <a:extLst>
              <a:ext uri="{96DAC541-7B7A-43D3-8B79-37D633B846F1}">
                <asvg:svgBlip xmlns:asvg="http://schemas.microsoft.com/office/drawing/2016/SVG/main" r:embed="R2e16059b89f144b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67825" y="2724150"/>
            <a:ext cx="1952625" cy="1952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07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06F4AE07-20B4-47A6-9E36-BA231FFC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2   0:30–1:00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7205C13C-E6C3-420F-B372-5BF44044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45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A base quântica da proteção</a:t>
            </a:r>
            <a:endParaRPr sz="345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0E60DA8E-D09B-44F6-B2A8-3F199DF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6425"/>
            <a:ext cx="938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Qubits, entrelaçamento e medições</a:t>
            </a:r>
            <a:endParaRPr sz="2175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9A919CEA-57FF-4B80-AF0E-F74FEA0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879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7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Qubit: pode estar em superposição de 0 e 1.</a:t>
            </a:r>
            <a:endParaRPr sz="2175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B965EDAF-5AAF-47E3-9DEE-F99181C5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8791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Entrelaçamento: resultados de medições correlacionados.</a:t>
            </a:r>
            <a:endParaRPr sz="2100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D0563566-13C5-4505-A355-5EF2F25C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87915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Medições e verificações geram uma chave secreta.</a:t>
            </a:r>
            <a:endParaRPr sz="2100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100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QBER indica a taxa de erros do canal.</a:t>
            </a:r>
            <a:endParaRPr sz="2100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F0A60F9F-BC54-4B5D-B857-40992DEF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10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875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Ruído ou espionagem podem elevar os erros.</a:t>
            </a:r>
            <a:endParaRPr sz="1875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875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O protocolo rejeita novas chaves sem segurança suficiente.</a:t>
            </a:r>
            <a:endParaRPr sz="1875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69A60752-658E-4565-86B9-C23AD319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02</a:t>
            </a:r>
            <a:endParaRPr sz="1350"/>
          </a:p>
        </p:txBody>
      </p:sp>
      <p:pic>
        <p:nvPicPr>
          <p:cNvPr id="10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8608B813-03B2-473C-9FAD-B29DB52AA5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8a0f66f614fd9">
            <a:extLst>
              <a:ext uri="{96DAC541-7B7A-43D3-8B79-37D633B846F1}">
                <asvg:svgBlip xmlns:asvg="http://schemas.microsoft.com/office/drawing/2016/SVG/main" r:embed="Re85071e0d79744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609850"/>
            <a:ext cx="1609725" cy="160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086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A6765F82-D71C-4A18-829D-6AEEC5C8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3   1:00–1:30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556286D5-097D-4525-8A8E-70ACFE9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60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O sistema proposto</a:t>
            </a:r>
            <a:endParaRPr sz="360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8C877822-69A4-45AA-91BF-CECE1180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250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Gerenciamento de chaves em uma interface</a:t>
            </a:r>
            <a:endParaRPr sz="2250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20C1C397-BFF2-44BD-AE6C-9BFC3045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01   Integração com equipamentos de comunicação QKD.</a:t>
            </a:r>
            <a:endParaRPr sz="2025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51655D86-6B4D-4B63-A8C0-4DF3FB86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02   Monitoramento do QBER e alertas de falha.</a:t>
            </a:r>
            <a:endParaRPr sz="2025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F74A1399-A106-406D-9C33-E09D50C9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03   Chaves validadas para cifrar dados, com autenticação.</a:t>
            </a:r>
            <a:endParaRPr sz="2025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C7FB8D42-F450-4576-82FD-F1E1B5A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85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04   Piloto entre dois pontos: avaliar segurança e custo.</a:t>
            </a:r>
            <a:endParaRPr sz="2025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FA0EACF8-52D2-49BF-AFF4-665457AC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>
                <a:solidFill>
                  <a:srgbClr val="AFBDD5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  <a:defRPr sz="1800">
                <a:solidFill>
                  <a:srgbClr val="AFBDD5"/>
                </a:solidFill>
              </a:defRPr>
            </a:pPr>
            <a:r>
              <a:rPr sz="180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Proposta: começar com um piloto antes de ampliar o uso.</a:t>
            </a:r>
            <a:endParaRPr sz="1875"/>
          </a:p>
        </p:txBody>
      </p:sp>
      <p:sp>
        <p:nvSpPr>
          <p:cNvPr id="10" name="Texto 9">
            <a:extLst xmlns:a="http://schemas.openxmlformats.org/drawingml/2006/main">
              <a:ext uri="{FF2B5EF4-FFF2-40B4-BE49-F238E27FC236}">
                <a16:creationId xmlns:a16="http://schemas.microsoft.com/office/drawing/2014/main" id="{D3969C7F-E5FC-492C-9D30-A05E5449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03</a:t>
            </a:r>
            <a:endParaRPr sz="1350"/>
          </a:p>
        </p:txBody>
      </p:sp>
      <p:pic>
        <p:nvPicPr>
          <p:cNvPr id="11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291881C1-3E5F-47BD-BA57-5FCA78CBA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ddec2d6444a11">
            <a:extLst>
              <a:ext uri="{96DAC541-7B7A-43D3-8B79-37D633B846F1}">
                <asvg:svgBlip xmlns:asvg="http://schemas.microsoft.com/office/drawing/2016/SVG/main" r:embed="Rb85fccb16d034c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3143250"/>
            <a:ext cx="1600200" cy="1600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24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o 1">
            <a:extLst xmlns:a="http://schemas.openxmlformats.org/drawingml/2006/main">
              <a:ext uri="{FF2B5EF4-FFF2-40B4-BE49-F238E27FC236}">
                <a16:creationId xmlns:a16="http://schemas.microsoft.com/office/drawing/2014/main" id="{8F511338-896C-4580-97A9-53F228A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096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PESSOA 4   1:30–2:00</a:t>
            </a:r>
            <a:endParaRPr sz="1350"/>
          </a:p>
        </p:txBody>
      </p:sp>
      <p:sp>
        <p:nvSpPr>
          <p:cNvPr id="3" name="Texto 2">
            <a:extLst xmlns:a="http://schemas.openxmlformats.org/drawingml/2006/main">
              <a:ext uri="{FF2B5EF4-FFF2-40B4-BE49-F238E27FC236}">
                <a16:creationId xmlns:a16="http://schemas.microsoft.com/office/drawing/2014/main" id="{74944472-8989-44FA-AAD3-3B56C012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3600" b="1">
                <a:solidFill>
                  <a:srgbClr val="EAF3FF"/>
                </a:solidFill>
                <a:latin typeface="Arial"/>
                <a:ea typeface="Arial"/>
                <a:cs typeface="Arial"/>
              </a:rPr>
              <a:t>Limitações</a:t>
            </a:r>
            <a:endParaRPr sz="3600"/>
          </a:p>
        </p:txBody>
      </p:sp>
      <p:sp>
        <p:nvSpPr>
          <p:cNvPr id="4" name="Texto 3">
            <a:extLst xmlns:a="http://schemas.openxmlformats.org/drawingml/2006/main">
              <a:ext uri="{FF2B5EF4-FFF2-40B4-BE49-F238E27FC236}">
                <a16:creationId xmlns:a16="http://schemas.microsoft.com/office/drawing/2014/main" id="{E253314E-023E-4D35-925A-A609EA40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D796FF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  <a:defRPr sz="2250" b="1">
                <a:solidFill>
                  <a:srgbClr val="D796FF"/>
                </a:solidFill>
              </a:defRPr>
            </a:pPr>
            <a:r>
              <a:rPr sz="2250" b="1">
                <a:solidFill>
                  <a:srgbClr val="D796FF"/>
                </a:solidFill>
                <a:latin typeface="Arial"/>
                <a:ea typeface="Arial"/>
                <a:cs typeface="Arial"/>
              </a:rPr>
              <a:t>Computadores quânticos atuais erram muito</a:t>
            </a:r>
            <a:endParaRPr sz="2475"/>
          </a:p>
        </p:txBody>
      </p:sp>
      <p:sp>
        <p:nvSpPr>
          <p:cNvPr id="5" name="Texto 4">
            <a:extLst xmlns:a="http://schemas.openxmlformats.org/drawingml/2006/main">
              <a:ext uri="{FF2B5EF4-FFF2-40B4-BE49-F238E27FC236}">
                <a16:creationId xmlns:a16="http://schemas.microsoft.com/office/drawing/2014/main" id="{BB9E5E1A-887D-43FE-B879-AB69DB2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Qubits podem perder coerência rapidamente (decoerência).</a:t>
            </a:r>
            <a:endParaRPr sz="2025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Também podem sofrer interferências externas e ruído.</a:t>
            </a:r>
            <a:endParaRPr sz="2025"/>
          </a:p>
        </p:txBody>
      </p:sp>
      <p:sp>
        <p:nvSpPr>
          <p:cNvPr id="6" name="Texto 5">
            <a:extLst xmlns:a="http://schemas.openxmlformats.org/drawingml/2006/main">
              <a:ext uri="{FF2B5EF4-FFF2-40B4-BE49-F238E27FC236}">
                <a16:creationId xmlns:a16="http://schemas.microsoft.com/office/drawing/2014/main" id="{2271CC7F-A8B3-4970-A3EB-9348A96A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4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Necessidade de testes empíricos</a:t>
            </a:r>
            <a:endParaRPr sz="2475"/>
          </a:p>
        </p:txBody>
      </p:sp>
      <p:sp>
        <p:nvSpPr>
          <p:cNvPr id="7" name="Texto 6">
            <a:extLst xmlns:a="http://schemas.openxmlformats.org/drawingml/2006/main">
              <a:ext uri="{FF2B5EF4-FFF2-40B4-BE49-F238E27FC236}">
                <a16:creationId xmlns:a16="http://schemas.microsoft.com/office/drawing/2014/main" id="{84AE0D6B-7794-4737-A318-35B07079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857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É preciso verificar o funcionamento e os resultados</a:t>
            </a:r>
            <a:endParaRPr sz="2025"/>
          </a:p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2025" b="0">
                <a:solidFill>
                  <a:srgbClr val="EAF3FF"/>
                </a:solidFill>
                <a:latin typeface="Arial"/>
                <a:ea typeface="Arial"/>
                <a:cs typeface="Arial"/>
              </a:rPr>
              <a:t>por meio de experiências.</a:t>
            </a:r>
            <a:endParaRPr sz="2025"/>
          </a:p>
        </p:txBody>
      </p:sp>
      <p:sp>
        <p:nvSpPr>
          <p:cNvPr id="8" name="Texto 7">
            <a:extLst xmlns:a="http://schemas.openxmlformats.org/drawingml/2006/main">
              <a:ext uri="{FF2B5EF4-FFF2-40B4-BE49-F238E27FC236}">
                <a16:creationId xmlns:a16="http://schemas.microsoft.com/office/drawing/2014/main" id="{E1C3D4EB-0887-43CC-9B8C-DFB2C43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61E8ED"/>
                </a:solidFill>
              </a:defRPr>
            </a:defPPr>
          </a:lstStyle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  <a:defRPr sz="2475" b="1">
                <a:solidFill>
                  <a:srgbClr val="61E8ED"/>
                </a:solidFill>
              </a:defRPr>
            </a:pPr>
            <a:r>
              <a:rPr sz="2475" b="1">
                <a:solidFill>
                  <a:srgbClr val="61E8ED"/>
                </a:solidFill>
                <a:latin typeface="Arial"/>
                <a:ea typeface="Arial"/>
                <a:cs typeface="Arial"/>
              </a:rPr>
              <a:t>Alto custo</a:t>
            </a:r>
            <a:endParaRPr sz="1875"/>
          </a:p>
        </p:txBody>
      </p:sp>
      <p:sp>
        <p:nvSpPr>
          <p:cNvPr id="9" name="Texto 8">
            <a:extLst xmlns:a="http://schemas.openxmlformats.org/drawingml/2006/main">
              <a:ext uri="{FF2B5EF4-FFF2-40B4-BE49-F238E27FC236}">
                <a16:creationId xmlns:a16="http://schemas.microsoft.com/office/drawing/2014/main" id="{26BA4B6F-3A87-464D-9294-94246BE4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1000"/>
            <a:ext cx="666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spcAft>
                <a:spcPts val="0"/>
              </a:spcAft>
              <a:buNone/>
            </a:pPr>
            <a:r>
              <a:rPr sz="1350" b="0">
                <a:solidFill>
                  <a:srgbClr val="AFBDD5"/>
                </a:solidFill>
                <a:latin typeface="Arial"/>
                <a:ea typeface="Arial"/>
                <a:cs typeface="Arial"/>
              </a:rPr>
              <a:t>04</a:t>
            </a:r>
            <a:endParaRPr sz="1350"/>
          </a:p>
        </p:txBody>
      </p:sp>
      <p:pic>
        <p:nvPicPr>
          <p:cNvPr id="10" name="Arte original">
            <a:extLst xmlns:a="http://schemas.openxmlformats.org/drawingml/2006/main">
              <a:ext uri="{FF2B5EF4-FFF2-40B4-BE49-F238E27FC236}">
                <a16:creationId xmlns:a16="http://schemas.microsoft.com/office/drawing/2014/main" id="{F837A4D5-E73E-49DF-A1F8-2BF269C742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3d7264b3984a33">
            <a:extLst>
              <a:ext uri="{96DAC541-7B7A-43D3-8B79-37D633B846F1}">
                <asvg:svgBlip xmlns:asvg="http://schemas.microsoft.com/office/drawing/2016/SVG/main" r:embed="Re726d3616808490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9775" y="2695575"/>
            <a:ext cx="1609725" cy="1609725"/>
          </a:xfrm>
          <a:prstGeom xmlns:a="http://schemas.openxmlformats.org/drawingml/2006/main" prst="rect">
            <a:avLst/>
          </a:prstGeom>
        </p:spPr>
      </p:pic>
      <p:sp>
        <p:nvSpPr>
          <p:cNvPr id="11" name="Custo do hardware">
            <a:extLst xmlns:a="http://schemas.openxmlformats.org/drawingml/2006/main">
              <a:ext uri="{FF2B5EF4-FFF2-40B4-BE49-F238E27FC236}">
                <a16:creationId xmlns:a16="http://schemas.microsoft.com/office/drawing/2014/main" id="{8CA2D885-4C26-4D56-85A2-DE12B4CD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EAF3FF"/>
                </a:solidFill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EAF3FF"/>
                </a:solidFill>
              </a:defRPr>
            </a:pPr>
            <a:r>
              <a:rPr sz="2025">
                <a:solidFill>
                  <a:srgbClr val="EAF3FF"/>
                </a:solidFill>
              </a:rPr>
              <a:t>Adquirir e manter computadores quânticos custa muito mais</a:t>
            </a:r>
          </a:p>
          <a:p xmlns:a="http://schemas.openxmlformats.org/drawingml/2006/main">
            <a:pPr>
              <a:buNone/>
              <a:defRPr sz="2025">
                <a:solidFill>
                  <a:srgbClr val="EAF3FF"/>
                </a:solidFill>
              </a:defRPr>
            </a:pPr>
            <a:r>
              <a:rPr sz="2025">
                <a:solidFill>
                  <a:srgbClr val="EAF3FF"/>
                </a:solidFill>
              </a:rPr>
              <a:t>que computadores tradicionais. QKD também exige hardware próprio.</a:t>
            </a:r>
          </a:p>
        </p:txBody>
      </p:sp>
      <p:sp>
        <p:nvSpPr>
          <p:cNvPr id="12" name="Escopo do hardware QKD">
            <a:extLst xmlns:a="http://schemas.openxmlformats.org/drawingml/2006/main">
              <a:ext uri="{FF2B5EF4-FFF2-40B4-BE49-F238E27FC236}">
                <a16:creationId xmlns:a16="http://schemas.microsoft.com/office/drawing/2014/main" id="{5250A841-55F9-4A07-ACF4-49BF5331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>
                <a:solidFill>
                  <a:srgbClr val="AFBDD5"/>
                </a:solidFill>
              </a:defRPr>
            </a:defPPr>
          </a:lstStyle>
          <a:p xmlns:a="http://schemas.openxmlformats.org/drawingml/2006/main">
            <a:pPr>
              <a:defRPr sz="1350">
                <a:solidFill>
                  <a:srgbClr val="AFBDD5"/>
                </a:solidFill>
              </a:defRPr>
            </a:pPr>
            <a:r>
              <a:rPr sz="1350">
                <a:solidFill>
                  <a:srgbClr val="AFBDD5"/>
                </a:solidFill>
              </a:rPr>
              <a:t>QKD usa equipamentos de comunicação, sem exigir um computador quântico universal.</a:t>
            </a:r>
          </a:p>
        </p:txBody>
      </p:sp>
    </p:spTree>
    <p:extLst>
      <p:ext uri="{BB962C8B-B14F-4D97-AF65-F5344CB8AC3E}">
        <p14:creationId xmlns:p14="http://schemas.microsoft.com/office/powerpoint/2010/main" val="1235113023"/>
      </p:ext>
    </p:extLst>
  </p:cSld>
</p:sld>
</file>

<file path=ppt/theme/theme1.xml><?xml version="1.0" encoding="utf-8"?>
<a:theme xmlns:a="http://schemas.openxmlformats.org/drawingml/2006/main" name="QUBIT">
  <a:themeElements>
    <a:clrScheme name="Coerência">
      <a:dk1>
        <a:srgbClr val="10182B"/>
      </a:dk1>
      <a:lt1>
        <a:srgbClr val="EAF3FF"/>
      </a:lt1>
      <a:dk2>
        <a:srgbClr val="172840"/>
      </a:dk2>
      <a:lt2>
        <a:srgbClr val="AFBDD5"/>
      </a:lt2>
      <a:accent1>
        <a:srgbClr val="61E8ED"/>
      </a:accent1>
      <a:accent2>
        <a:srgbClr val="D796FF"/>
      </a:accent2>
      <a:accent3>
        <a:srgbClr val="F2C572"/>
      </a:accent3>
      <a:accent4>
        <a:srgbClr val="F066AD"/>
      </a:accent4>
      <a:accent5>
        <a:srgbClr val="76DDA8"/>
      </a:accent5>
      <a:accent6>
        <a:srgbClr val="83A8FF"/>
      </a:accent6>
      <a:hlink>
        <a:srgbClr val="61E8ED"/>
      </a:hlink>
      <a:folHlink>
        <a:srgbClr val="D796FF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oerênci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2026-10-13T12:49:24.9680000Z</dcterms:created>
  <dcterms:modified xsi:type="dcterms:W3CDTF">2026-10-13T12:49:24.9680000Z</dcterms:modified>
</coreProperties>
</file>
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6053baf41453e" /><Relationship Type="http://schemas.openxmlformats.org/officeDocument/2006/relationships/extended-properties" Target="/docProps/app.xml" Id="Ra8229c8226ca43aa" /><Relationship Type="http://schemas.openxmlformats.org/officeDocument/2006/relationships/officeDocument" Target="/ppt/presentation.xml" Id="Rb56da06dcec7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9b32361a64bf8"/>
  </p:sldMasterIdLst>
  <p:notesMasterIdLst>
    <p:notesMasterId xmlns:r="http://schemas.openxmlformats.org/officeDocument/2006/relationships" r:id="R33b7fc0e1b404712"/>
  </p:notesMasterIdLst>
  <p:sldIdLst>
    <p:sldId xmlns:r="http://schemas.openxmlformats.org/officeDocument/2006/relationships" id="256" r:id="Re33cde7769684b15"/>
    <p:sldId xmlns:r="http://schemas.openxmlformats.org/officeDocument/2006/relationships" id="257" r:id="R8afdd115509948c7"/>
    <p:sldId xmlns:r="http://schemas.openxmlformats.org/officeDocument/2006/relationships" id="258" r:id="R757156bff3a24204"/>
    <p:sldId xmlns:r="http://schemas.openxmlformats.org/officeDocument/2006/relationships" id="259" r:id="R235cf3deea634375"/>
  </p:sldIdLst>
  <p:sldSz cx="12192000" cy="6858000"/>
  <p:notesSz cx="6858000" cy="9144000"/>
  <p:defaultTextStyle>
    <a:defPPr xmlns:a="http://schemas.openxmlformats.org/drawingml/2006/main">
      <a:buNone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640adb6c24935" /><Relationship Type="http://schemas.openxmlformats.org/officeDocument/2006/relationships/slideMaster" Target="/ppt/slideMasters/slideMaster1.xml" Id="R8e69b32361a64bf8" /><Relationship Type="http://schemas.openxmlformats.org/officeDocument/2006/relationships/notesMaster" Target="/ppt/notesMasters/notesMaster1.xml" Id="R33b7fc0e1b404712" /><Relationship Type="http://schemas.openxmlformats.org/officeDocument/2006/relationships/presProps" Target="/ppt/presProps.xml" Id="Rda349ad3d5d240c8" /><Relationship Type="http://schemas.openxmlformats.org/officeDocument/2006/relationships/tableStyles" Target="/ppt/tableStyles.xml" Id="R7d166253cf634d68" /><Relationship Type="http://schemas.openxmlformats.org/officeDocument/2006/relationships/slide" Target="/ppt/slides/slide1.xml" Id="Re33cde7769684b15" /><Relationship Type="http://schemas.openxmlformats.org/officeDocument/2006/relationships/slide" Target="/ppt/slides/slide2.xml" Id="R8afdd115509948c7" /><Relationship Type="http://schemas.openxmlformats.org/officeDocument/2006/relationships/slide" Target="/ppt/slides/slide3.xml" Id="R757156bff3a24204" /><Relationship Type="http://schemas.openxmlformats.org/officeDocument/2006/relationships/slide" Target="/ppt/slides/slide4.xml" Id="R235cf3deea63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39daf22d54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23eb64a214064" /><Relationship Type="http://schemas.openxmlformats.org/officeDocument/2006/relationships/notesMaster" Target="/ppt/notesMasters/notesMaster1.xml" Id="Re6481c77dbc9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b667f4d92d4209" /><Relationship Type="http://schemas.openxmlformats.org/officeDocument/2006/relationships/notesMaster" Target="/ppt/notesMasters/notesMaster1.xml" Id="R9bcab931df4145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36a0972b224991" /><Relationship Type="http://schemas.openxmlformats.org/officeDocument/2006/relationships/notesMaster" Target="/ppt/notesMasters/notesMaster1.xml" Id="R514e0a5208fb49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488fd5eee4712" /><Relationship Type="http://schemas.openxmlformats.org/officeDocument/2006/relationships/notesMaster" Target="/ppt/notesMasters/notesMaster1.xml" Id="R7565b83ff12245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1 | 0–30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Como proteger os comandos de uma nave durante um ataque? Em Defesa Planetária, você destrói asteroides e acompanha a segurança da comunicação. O jogo apresenta qubits, entrelaçamento e distribuição quântica de chaves, que ajudam a criar uma chave secreta entre a Terra e a nave. A proposta é aprender esses conceitos enquanto joga. Tudo roda em um computador comum, como uma analogia didática.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 do jogo: index.html, diálogos e briefing. Esta aplicação aborda principalmente comunicação quântica e QKD, sem executar um algoritmo quântico.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Referência visual: Pitch-Coerencia-Lab.pptx, ilustrações e estilo fornecidos pelo usuário.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2 | 30–60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Um bit clássico vale zero ou um. Um qubit pode estar em uma superposição desses estados. Ao medir na base de zero e um, obtemos apenas um resultado. As amplitudes quânticas podem interferir, aumentando ou diminuindo probabilidades. Algoritmos quânticos usam esse efeito em tarefas específicas. Por isso, um computador quântico não é simplesmente mais rápido em tudo. O diálogo do jogo apresenta essa diferença.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https://quantum.cloud.ibm.com/learning/en/modules/quantum-mechanics/superposition-with-qiskit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Referência visual: Pitch-Coerencia-Lab.pptx, ilustrações e estilo fornecidos pelo usuário.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3 | 60–90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No jogo, a Terra e a nave usam partículas entrelaçadas para criar uma chave compartilhada. O rádio continua levando os comandos protegidos. O QBER indica a taxa de erros, que pode aumentar por ruído ou espionagem. Na prática, erros excessivos levam à rejeição da nova chave. Já o limite de onze por cento, a tecla de regeneração e os controles invertidos são simplificações da missão.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https://journals.aps.org/prl/abstract/10.1103/PhysRevLett.67.661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https://quantum.cloud.ibm.com/learning/en/modules/computer-science/quantum-key-distribution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Nota: QKD requer autenticação clássica, estimação de parâmetros, correção de erros e amplificação de privacidade. QBER alto não comprova invasão. O jogo apenas se inspira no E91.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Referência visual: Pitch-Coerencia-Lab.pptx, ilustrações e estilo fornecidos pelo usuário.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4 | 90–120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As limitações começam pelos erros: computadores quânticos atuais ainda erram muito. Os qubits podem perder coerência rapidamente e sofrer interferências externas, como ruído do ambiente. Também precisamos de testes empíricos: verificar o funcionamento e os resultados por meio de experiências. Por fim, o custo é alto. Adquirir e manter esse hardware exige infraestrutura especializada, muito mais cara que a de um computador tradicional. O jogo apresenta esses desafios de forma simplificada.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https://quantum.cloud.ibm.com/learning/en/courses/tools-for-quantum-advantage/noise-and-errors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https://www.ibm.com/quantum/hardware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Nota: interferências externas significam perturbações indesejadas, diferentes da interferência quântica útil do slide 2. Decoerência é perda de coerência do estado. Custos variam conforme a tecnologia e a infraestrutura. Testes validam dispositivos e aplicações, não implicam que a teoria quântica não tenha confirmação experimental.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Referência visual: Pitch-Coerencia-Lab.pptx, ilustrações e estilo fornecidos pelo usuário.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b3bbaa6ec4192" /></Relationships>
</file>

<file path=ppt/slideLayouts/slideLayout1.xml><?xml version="1.0" encoding="utf-8"?>
<p:sldLayout xmlns:p="http://schemas.openxmlformats.org/presentationml/2006/main" type="blank" preserve="1">
  <p:cSld name="Livr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ffccdc26d40d1" /><Relationship Type="http://schemas.openxmlformats.org/officeDocument/2006/relationships/slideLayout" Target="/ppt/slideLayouts/slideLayout1.xml" Id="R6b3c6e4bff054417" /></Relationships>
</file>

<file path=ppt/slideMasters/slideMaster1.xml><?xml version="1.0" encoding="utf-8"?>
<p:sldMaster xmlns:p="http://schemas.openxmlformats.org/presentationml/2006/main">
  <p:cSld name="Coerênci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c6e4bff054417"/>
  </p:sldLayoutIdLst>
</p:sldMaster>
</file>

<file path=ppt/slideMasters/theme/theme2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6843aea284d60" /><Relationship Type="http://schemas.openxmlformats.org/officeDocument/2006/relationships/image" Target="/ppt/media/image.png" Id="Rbb82a1b497264f67" /><Relationship Type="http://schemas.openxmlformats.org/officeDocument/2006/relationships/image" Target="/ppt/media/image.svg" Id="Ra9d6300539e1412a" /><Relationship Type="http://schemas.openxmlformats.org/officeDocument/2006/relationships/notesSlide" Target="/ppt/notesSlides/notesSlide1.xml" Id="Rb0500b5898734e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56136f0054052" /><Relationship Type="http://schemas.openxmlformats.org/officeDocument/2006/relationships/image" Target="/ppt/media/image2.png" Id="Rcfb0aa9fa7254e26" /><Relationship Type="http://schemas.openxmlformats.org/officeDocument/2006/relationships/image" Target="/ppt/media/image2.svg" Id="R6330836d703e4368" /><Relationship Type="http://schemas.openxmlformats.org/officeDocument/2006/relationships/notesSlide" Target="/ppt/notesSlides/notesSlide2.xml" Id="R0dbd8004a67f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bc589aa03441a" /><Relationship Type="http://schemas.openxmlformats.org/officeDocument/2006/relationships/image" Target="/ppt/media/image3.png" Id="R6d84fd0f43174fff" /><Relationship Type="http://schemas.openxmlformats.org/officeDocument/2006/relationships/image" Target="/ppt/media/image3.svg" Id="R58dc213f5b884d0d" /><Relationship Type="http://schemas.openxmlformats.org/officeDocument/2006/relationships/notesSlide" Target="/ppt/notesSlides/notesSlide3.xml" Id="Re419cd08cb9c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bcda823db432c" /><Relationship Type="http://schemas.openxmlformats.org/officeDocument/2006/relationships/image" Target="/ppt/media/image4.png" Id="R2e2cc7dc489d4a54" /><Relationship Type="http://schemas.openxmlformats.org/officeDocument/2006/relationships/image" Target="/ppt/media/image4.svg" Id="R11c59c83f2d04d0e" /><Relationship Type="http://schemas.openxmlformats.org/officeDocument/2006/relationships/notesSlide" Target="/ppt/notesSlides/notesSlide4.xml" Id="Rd77ffb7678f3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08D7F5C0-1444-499A-B9BC-3AD40B5E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1   0:00–0:30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2E028C8F-1CB2-46B2-BD08-A3A7D0A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45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Defesa Planetária</a:t>
            </a:r>
            <a:endParaRPr sz="345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5A617E7E-D6F1-4869-B7BB-41374A3C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 missão</a:t>
            </a:r>
            <a:endParaRPr sz="2250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53975076-6A74-41CA-A96F-754886E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858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Defender a Terra dos asteroides</a:t>
            </a:r>
            <a:endParaRPr sz="22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e proteger os comandos da nave.</a:t>
            </a:r>
            <a:endParaRPr sz="2250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20D7C8C8-4F1B-4C8D-AB61-727DEE2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 ideia quântica</a:t>
            </a:r>
            <a:endParaRPr sz="2250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5773AACD-EA57-4981-9073-0A9DBBD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858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Partículas entrelaçadas ajudam a criar</a:t>
            </a:r>
            <a:endParaRPr sz="210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chaves secretas para a comunicação.</a:t>
            </a:r>
            <a:endParaRPr sz="2100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F42A2FCD-506F-49F0-A14F-92725AF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Uma analogia didática que roda em um computador comum.</a:t>
            </a:r>
            <a:endParaRPr sz="1800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3535B0C2-8A67-4159-8A44-8666974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01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1C447425-3FC0-46A8-B16C-C81D12351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2a1b497264f67">
            <a:extLst>
              <a:ext uri="{96DAC541-7B7A-43D3-8B79-37D633B846F1}">
                <asvg:svgBlip xmlns:asvg="http://schemas.microsoft.com/office/drawing/2016/SVG/main" r:embed="Ra9d6300539e141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67825" y="2724150"/>
            <a:ext cx="1952625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07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06F4AE07-20B4-47A6-9E36-BA231FF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2   0:30–1:00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7205C13C-E6C3-420F-B372-5BF4404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45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Qubits e superposição</a:t>
            </a:r>
            <a:endParaRPr sz="345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0E60DA8E-D09B-44F6-B2A8-3F199DF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938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Os conceitos apresentados no diálogo</a:t>
            </a:r>
            <a:endParaRPr sz="2175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9A919CEA-57FF-4B80-AF0E-F74FEA0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879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7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Bit clássico: valor 0 ou 1.</a:t>
            </a:r>
            <a:endParaRPr sz="217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B965EDAF-5AAF-47E3-9DEE-F99181C5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879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Qubit: pode estar em superposição de 0 e 1.</a:t>
            </a:r>
            <a:endParaRPr sz="2100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D0563566-13C5-4505-A355-5EF2F25C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8791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Ao medir nessa base, aparece um resultado.</a:t>
            </a:r>
            <a:endParaRPr sz="210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A interferência altera as probabilidades.</a:t>
            </a:r>
            <a:endParaRPr sz="2100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F0A60F9F-BC54-4B5D-B857-40992DE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75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Algoritmos quânticos podem ajudar em tarefas específicas.</a:t>
            </a:r>
            <a:endParaRPr sz="187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75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A vantagem depende do problema.</a:t>
            </a:r>
            <a:endParaRPr sz="187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69A60752-658E-4565-86B9-C23AD31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02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B1834C04-4BCC-4692-9C7D-41ED18C96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0aa9fa7254e26">
            <a:extLst>
              <a:ext uri="{96DAC541-7B7A-43D3-8B79-37D633B846F1}">
                <asvg:svgBlip xmlns:asvg="http://schemas.microsoft.com/office/drawing/2016/SVG/main" r:embed="R6330836d703e43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609850"/>
            <a:ext cx="1609725" cy="160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08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A6765F82-D71C-4A18-829D-6AEEC5C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3   1:00–1:30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556286D5-097D-4525-8A8E-70ACFE9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60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Entrelaçamento e chaves</a:t>
            </a:r>
            <a:endParaRPr sz="360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8C877822-69A4-45AA-91BF-CECE118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 comunicação entre a Terra e a nave</a:t>
            </a:r>
            <a:endParaRPr sz="2250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20C1C397-BFF2-44BD-AE6C-9BFC304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01   Partículas entrelaçadas têm resultados correlacionados.</a:t>
            </a:r>
            <a:endParaRPr sz="202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51655D86-6B4D-4B63-A8C0-4DF3FB8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02   Medições e verificações permitem gerar uma chave.</a:t>
            </a:r>
            <a:endParaRPr sz="2025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F74A1399-A106-406D-9C33-E09D50C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03   O rádio transmite os comandos protegidos.</a:t>
            </a:r>
            <a:endParaRPr sz="2025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C7FB8D42-F450-4576-82FD-F1E1B5A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04   QBER mede erros: ruído e espionagem podem aumentá-los.</a:t>
            </a:r>
            <a:endParaRPr sz="202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FA0EACF8-52D2-49BF-AFF4-665457AC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AFBDD5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1800">
                <a:solidFill>
                  <a:srgbClr val="AFBDD5"/>
                </a:solidFill>
              </a:defRPr>
            </a:pPr>
            <a:r>
              <a:rPr sz="180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Erros excessivos: rejeitar a nova chave. Inversão de controles é ficção.</a:t>
            </a:r>
            <a:endParaRPr sz="1875"/>
          </a:p>
        </p:txBody>
      </p:sp>
      <p:sp>
        <p:nvSpPr>
          <p:cNvPr id="10" name="Texto 9">
            <a:extLst xmlns:a="http://schemas.openxmlformats.org/drawingml/2006/main">
              <a:ext uri="{FF2B5EF4-FFF2-40B4-BE49-F238E27FC236}">
                <a16:creationId xmlns:a16="http://schemas.microsoft.com/office/drawing/2014/main" id="{D3969C7F-E5FC-492C-9D30-A05E544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03</a:t>
            </a:r>
            <a:endParaRPr sz="1350"/>
          </a:p>
        </p:txBody>
      </p:sp>
      <p:pic>
        <p:nvPicPr>
          <p:cNvPr id="11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5CD9FAC8-9689-443C-829B-7E4FDD857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4fd0f43174fff">
            <a:extLst>
              <a:ext uri="{96DAC541-7B7A-43D3-8B79-37D633B846F1}">
                <asvg:svgBlip xmlns:asvg="http://schemas.microsoft.com/office/drawing/2016/SVG/main" r:embed="R58dc213f5b884d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3143250"/>
            <a:ext cx="1600200" cy="1600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8F511338-896C-4580-97A9-53F228A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4   1:30–2:00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74944472-8989-44FA-AAD3-3B56C01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60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Limitações</a:t>
            </a:r>
            <a:endParaRPr sz="360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E253314E-023E-4D35-925A-A609EA4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796FF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2250" b="1">
                <a:solidFill>
                  <a:srgbClr val="D796FF"/>
                </a:solidFill>
              </a:defRPr>
            </a:pPr>
            <a:r>
              <a:rPr sz="2250" b="1">
                <a:solidFill>
                  <a:srgbClr val="D796FF"/>
                </a:solidFill>
                <a:latin typeface="Arial"/>
                <a:ea typeface="Arial"/>
                <a:cs typeface="Arial"/>
              </a:rPr>
              <a:t>Computadores quânticos atuais erram muito</a:t>
            </a:r>
            <a:endParaRPr sz="2475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BB9E5E1A-887D-43FE-B879-AB69DB2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Qubits podem perder coerência rapidamente (decoerência).</a:t>
            </a:r>
            <a:endParaRPr sz="202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Também podem sofrer interferências externas e ruído.</a:t>
            </a:r>
            <a:endParaRPr sz="202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2271CC7F-A8B3-4970-A3EB-9348A96A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4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Necessidade de testes empíricos</a:t>
            </a:r>
            <a:endParaRPr sz="2475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84AE0D6B-7794-4737-A318-35B0707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É preciso verificar o funcionamento e os resultados</a:t>
            </a:r>
            <a:endParaRPr sz="202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por meio de experiências.</a:t>
            </a:r>
            <a:endParaRPr sz="2025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E1C3D4EB-0887-43CC-9B8C-DFB2C43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61E8ED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2475" b="1">
                <a:solidFill>
                  <a:srgbClr val="61E8ED"/>
                </a:solidFill>
              </a:defRPr>
            </a:pPr>
            <a:r>
              <a:rPr sz="24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Alto custo</a:t>
            </a:r>
            <a:endParaRPr sz="187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26BA4B6F-3A87-464D-9294-94246BE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04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661E53C6-C7F2-4EC9-ACD8-BD6D1578E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cc7dc489d4a54">
            <a:extLst>
              <a:ext uri="{96DAC541-7B7A-43D3-8B79-37D633B846F1}">
                <asvg:svgBlip xmlns:asvg="http://schemas.microsoft.com/office/drawing/2016/SVG/main" r:embed="R11c59c83f2d04d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9775" y="2695575"/>
            <a:ext cx="1609725" cy="1609725"/>
          </a:xfrm>
          <a:prstGeom xmlns:a="http://schemas.openxmlformats.org/drawingml/2006/main" prst="rect">
            <a:avLst/>
          </a:prstGeom>
        </p:spPr>
      </p:pic>
      <p:sp>
        <p:nvSpPr>
          <p:cNvPr id="11" name="Custo do hardware">
            <a:extLst xmlns:a="http://schemas.openxmlformats.org/drawingml/2006/main">
              <a:ext uri="{FF2B5EF4-FFF2-40B4-BE49-F238E27FC236}">
                <a16:creationId xmlns:a16="http://schemas.microsoft.com/office/drawing/2014/main" id="{8CA2D885-4C26-4D56-85A2-DE12B4C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EAF3FF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EAF3FF"/>
                </a:solidFill>
              </a:defRPr>
            </a:pPr>
            <a:r>
              <a:rPr sz="2025">
                <a:solidFill>
                  <a:srgbClr val="EAF3FF"/>
                </a:solidFill>
              </a:rPr>
              <a:t>Adquirir e manter um computador quântico custa muito mais</a:t>
            </a:r>
          </a:p>
          <a:p xmlns:a="http://schemas.openxmlformats.org/drawingml/2006/main">
            <a:pPr>
              <a:defRPr sz="2025">
                <a:solidFill>
                  <a:srgbClr val="EAF3FF"/>
                </a:solidFill>
              </a:defRPr>
            </a:pPr>
            <a:r>
              <a:rPr sz="2025">
                <a:solidFill>
                  <a:srgbClr val="EAF3FF"/>
                </a:solidFill>
              </a:rPr>
              <a:t>que um computador tradicional, pela infraestrutura especializada.</a:t>
            </a:r>
          </a:p>
        </p:txBody>
      </p:sp>
    </p:spTree>
    <p:extLst>
      <p:ext uri="{BB962C8B-B14F-4D97-AF65-F5344CB8AC3E}">
        <p14:creationId xmlns:p14="http://schemas.microsoft.com/office/powerpoint/2010/main" val="1235113023"/>
      </p:ext>
    </p:extLst>
  </p:cSld>
</p:sld>
</file>

<file path=ppt/theme/theme1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2026-10-13T12:41:16.5550000Z</dcterms:created>
  <dcterms:modified xsi:type="dcterms:W3CDTF">2026-10-13T12:41:16.5550000Z</dcterms:modified>
</coreProperties>
</file>